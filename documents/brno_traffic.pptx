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1" r:id="rId21"/>
    <p:sldId id="276" r:id="rId22"/>
    <p:sldId id="282" r:id="rId23"/>
    <p:sldId id="283" r:id="rId24"/>
    <p:sldId id="284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>
      <a:defRPr lang="en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6"/>
  </p:normalViewPr>
  <p:slideViewPr>
    <p:cSldViewPr snapToGrid="0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D156D-C070-6B50-C900-32446823E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A74E9-D469-81FD-931D-E07ACC5B6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2FC33-DEF5-64D7-0D75-B4E70EEC4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D0D4-7213-264A-839B-B600DDCB5102}" type="datetimeFigureOut">
              <a:rPr lang="en-CZ" smtClean="0"/>
              <a:t>13.01.2026</a:t>
            </a:fld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AD96A-1965-78B2-137A-7D86179F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73457-3325-45F1-DFB7-A1973525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1CA0-E4F2-7747-92DF-DF7A54C237A9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4034891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BBEE-75AC-A874-7BF2-2566CF5C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E0470-8540-E42E-7372-34E8D5396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C4386-454A-202A-58A8-4FA26B93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D0D4-7213-264A-839B-B600DDCB5102}" type="datetimeFigureOut">
              <a:rPr lang="en-CZ" smtClean="0"/>
              <a:t>13.01.2026</a:t>
            </a:fld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D64F4-CCA8-D957-2F94-6AE180F6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A7E1F-D151-300E-DFB9-519B7638D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1CA0-E4F2-7747-92DF-DF7A54C237A9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03226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1C20D-46F4-F87B-EBB1-4EDFCE6C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598DB-393B-038C-5F78-40C061D37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E5F85-69B6-F270-2BE6-94643641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D0D4-7213-264A-839B-B600DDCB5102}" type="datetimeFigureOut">
              <a:rPr lang="en-CZ" smtClean="0"/>
              <a:t>13.01.2026</a:t>
            </a:fld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75FFF-0270-F0E0-C762-A669606E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E90BD-DB82-8BF3-FE31-795BE0730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1CA0-E4F2-7747-92DF-DF7A54C237A9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175973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53CF1-EFBF-35A8-2B6E-E760CE005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7D8A8-8093-222E-6261-81BDA849B6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26B6-85FD-F0A2-1291-6D0B9A1C7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A0154-194B-0821-1297-5879E14DA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D0D4-7213-264A-839B-B600DDCB5102}" type="datetimeFigureOut">
              <a:rPr lang="en-CZ" smtClean="0"/>
              <a:t>13.01.2026</a:t>
            </a:fld>
            <a:endParaRPr lang="en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7252A-82E2-BA5D-81DB-3F3CEE09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9659B-960D-6EA1-B5DE-37081FCF2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1CA0-E4F2-7747-92DF-DF7A54C237A9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513016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2B0D5-5EB6-6F94-9D4A-D6C3A175D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0B1E3-EF6D-B56B-9981-32246C6F4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B8C25-3D69-233D-7D69-5F01DF068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1383DA-13E8-50A7-383C-F9466FE621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8534D-8E5F-57BB-2FD4-4C3A5BA96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5F2AF6-673C-F9E5-93CD-B855B95F5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D0D4-7213-264A-839B-B600DDCB5102}" type="datetimeFigureOut">
              <a:rPr lang="en-CZ" smtClean="0"/>
              <a:t>13.01.2026</a:t>
            </a:fld>
            <a:endParaRPr lang="en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B9D89A-1A3A-C31A-DF75-319A6A495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141293-E63B-AF43-4167-FA5CF0DD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1CA0-E4F2-7747-92DF-DF7A54C237A9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420705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1A86B-6049-7D18-9D67-8EB7A8CE5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1C7526-EBDF-8F44-CC4E-DD5D5FBE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D0D4-7213-264A-839B-B600DDCB5102}" type="datetimeFigureOut">
              <a:rPr lang="en-CZ" smtClean="0"/>
              <a:t>13.01.2026</a:t>
            </a:fld>
            <a:endParaRPr lang="en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8DF0FC-1284-E93D-6FE5-47D9FDA0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B605A-B615-6B24-40A1-25FE5E19C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1CA0-E4F2-7747-92DF-DF7A54C237A9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59269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2BF430-FEBC-6046-96A5-D79FD689E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D0D4-7213-264A-839B-B600DDCB5102}" type="datetimeFigureOut">
              <a:rPr lang="en-CZ" smtClean="0"/>
              <a:t>13.01.2026</a:t>
            </a:fld>
            <a:endParaRPr lang="en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AFA170-2F91-9365-A4BC-4A895A938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814F9-5E52-76CD-BBD7-7E9313CF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1CA0-E4F2-7747-92DF-DF7A54C237A9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121988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8B13-0D29-16D9-F781-F0869435A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984F-5C23-5DE8-9531-1E8F9BB02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857B7-D3F7-014D-8C36-C9898493C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96EF9-8FA8-85B3-B7E6-B1E1ECCC7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D0D4-7213-264A-839B-B600DDCB5102}" type="datetimeFigureOut">
              <a:rPr lang="en-CZ" smtClean="0"/>
              <a:t>13.01.2026</a:t>
            </a:fld>
            <a:endParaRPr lang="en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FA53F-CFFB-5A6F-95C0-ACC7BEC8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02EA0-00CB-9ED1-61EB-4041E7D3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1CA0-E4F2-7747-92DF-DF7A54C237A9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4972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3113-901F-4B8F-077F-E357C372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650B8-F9A3-6F58-4853-5871F58A09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2B770-46AA-58DB-92E6-0386A6B49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E556E-9F78-EC38-B972-F50BADE27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D0D4-7213-264A-839B-B600DDCB5102}" type="datetimeFigureOut">
              <a:rPr lang="en-CZ" smtClean="0"/>
              <a:t>13.01.2026</a:t>
            </a:fld>
            <a:endParaRPr lang="en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47421-0254-1A23-A4EC-71BAE42AE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8C858-1587-3B91-173C-205CDA811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1CA0-E4F2-7747-92DF-DF7A54C237A9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416451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CA40-C48D-DBFB-2B12-ACFBC9B9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06BAD-7141-7CCF-3C81-10DED305A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70401-8295-6209-3B76-07E910DB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D0D4-7213-264A-839B-B600DDCB5102}" type="datetimeFigureOut">
              <a:rPr lang="en-CZ" smtClean="0"/>
              <a:t>13.01.2026</a:t>
            </a:fld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EEC52-8BCA-7297-F17A-A5CA5586D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988EC-1B32-6046-69E6-D53F8D8E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1CA0-E4F2-7747-92DF-DF7A54C237A9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68780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B54E98-39C6-E4C1-8E31-53FA70E91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E0A90-D2C6-12AC-D20B-FEC2ACB1D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E0E93-1B3B-E9DD-D70C-50A6CE6CD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D0D4-7213-264A-839B-B600DDCB5102}" type="datetimeFigureOut">
              <a:rPr lang="en-CZ" smtClean="0"/>
              <a:t>13.01.2026</a:t>
            </a:fld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E2F4D-007B-3E7B-8388-0FE4E214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12AC1-C9E6-87FE-D528-C6F2FC5A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1CA0-E4F2-7747-92DF-DF7A54C237A9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349970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81323A-CCBF-63F7-FFB6-B3B1892D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0796F-0607-513E-1A08-73C814554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78DD-D7AC-716A-F7B1-38BB4BAEB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FD0D4-7213-264A-839B-B600DDCB5102}" type="datetimeFigureOut">
              <a:rPr lang="en-CZ" smtClean="0"/>
              <a:t>13.01.2026</a:t>
            </a:fld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5D3E4-8579-A73D-51A6-B54A5D849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9CC13-06AF-3D68-8295-FA45FBF7C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C1CA0-E4F2-7747-92DF-DF7A54C237A9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80323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robala/brno_traffic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017423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Brno Traffic Accident Data Warehouse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3307278" y="2110839"/>
            <a:ext cx="6115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Course:</a:t>
            </a:r>
            <a:r>
              <a:rPr lang="en-GB" dirty="0"/>
              <a:t> ENA-BIDS</a:t>
            </a:r>
            <a:br>
              <a:rPr lang="en-GB" dirty="0"/>
            </a:br>
            <a:r>
              <a:rPr lang="en-GB" b="1" dirty="0"/>
              <a:t>Student:</a:t>
            </a:r>
            <a:r>
              <a:rPr lang="en-GB" dirty="0"/>
              <a:t> Hero Bala</a:t>
            </a:r>
          </a:p>
          <a:p>
            <a:r>
              <a:rPr lang="en-GB" b="1" dirty="0" err="1"/>
              <a:t>Supervisor:</a:t>
            </a:r>
            <a:r>
              <a:rPr lang="en-GB" dirty="0" err="1"/>
              <a:t>Ing</a:t>
            </a:r>
            <a:r>
              <a:rPr lang="en-GB" dirty="0"/>
              <a:t>. Jan </a:t>
            </a:r>
            <a:r>
              <a:rPr lang="en-GB" dirty="0" err="1"/>
              <a:t>Přichystal</a:t>
            </a:r>
            <a:r>
              <a:rPr lang="en-GB" dirty="0"/>
              <a:t>, Ph.D.</a:t>
            </a:r>
            <a:br>
              <a:rPr lang="en-GB" dirty="0"/>
            </a:br>
            <a:r>
              <a:rPr lang="en-GB" b="1" dirty="0"/>
              <a:t>Technologies:</a:t>
            </a:r>
            <a:r>
              <a:rPr lang="en-GB" dirty="0"/>
              <a:t> PostgreSQL, SQL (ETL), Python, Power BI</a:t>
            </a:r>
            <a:endParaRPr lang="en-CZ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28F7D7-B02C-35B8-53B2-A6A609AA8F5E}"/>
              </a:ext>
            </a:extLst>
          </p:cNvPr>
          <p:cNvSpPr txBox="1"/>
          <p:nvPr/>
        </p:nvSpPr>
        <p:spPr>
          <a:xfrm>
            <a:off x="3307278" y="3535301"/>
            <a:ext cx="40907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Z" dirty="0"/>
              <a:t>🔗 </a:t>
            </a:r>
            <a:r>
              <a:rPr lang="en-GB" dirty="0"/>
              <a:t>GitHub:</a:t>
            </a:r>
            <a:br>
              <a:rPr lang="en-GB" dirty="0"/>
            </a:br>
            <a:r>
              <a:rPr lang="en-GB" dirty="0">
                <a:hlinkClick r:id="rId2"/>
              </a:rPr>
              <a:t>https://github.com/herobala/brno_traffic</a:t>
            </a:r>
            <a:endParaRPr lang="en-GB" dirty="0"/>
          </a:p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733171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431356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Problem Statement &amp; Motivation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2144486" y="2305615"/>
            <a:ext cx="79030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Key Points:</a:t>
            </a:r>
            <a:endParaRPr lang="en-GB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Traffic accidents are a major public safety issue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Data comes from multiple heterogeneous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Raw data is inconsistent and not analysis-ready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Need for historical, reproducible, analytical solution</a:t>
            </a:r>
          </a:p>
        </p:txBody>
      </p:sp>
    </p:spTree>
    <p:extLst>
      <p:ext uri="{BB962C8B-B14F-4D97-AF65-F5344CB8AC3E}">
        <p14:creationId xmlns:p14="http://schemas.microsoft.com/office/powerpoint/2010/main" val="387755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596609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Data Sources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2144486" y="1569345"/>
            <a:ext cx="790302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Sources Used:</a:t>
            </a:r>
            <a:endParaRPr lang="en-GB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Traffic Accident Data (Brno Open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Vehicle Traffic Intensity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Weather Data (Open-</a:t>
            </a:r>
            <a:r>
              <a:rPr lang="en-GB" sz="2800" dirty="0" err="1"/>
              <a:t>Meteo</a:t>
            </a:r>
            <a:r>
              <a:rPr lang="en-GB" sz="2800" dirty="0"/>
              <a:t> API)</a:t>
            </a:r>
          </a:p>
          <a:p>
            <a:r>
              <a:rPr lang="en-GB" sz="2800" b="1" dirty="0"/>
              <a:t>Granularity:</a:t>
            </a:r>
            <a:endParaRPr lang="en-GB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Accident → 1 row per accident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Weather → 1 row per hour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Traffic intensity → 1 row per location per year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2144486" y="5490585"/>
            <a:ext cx="9505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These datasets differ in granularity and structure, which makes ETL and correct grain definition critical.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946833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959702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Overall Architecture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3916383" y="1225945"/>
            <a:ext cx="435923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CSV Files</a:t>
            </a:r>
          </a:p>
          <a:p>
            <a:r>
              <a:rPr lang="en-GB" sz="2400" b="1" dirty="0"/>
              <a:t>↓</a:t>
            </a:r>
          </a:p>
          <a:p>
            <a:r>
              <a:rPr lang="en-GB" sz="2400" b="1" dirty="0"/>
              <a:t>Staging Layer</a:t>
            </a:r>
          </a:p>
          <a:p>
            <a:r>
              <a:rPr lang="en-GB" sz="2400" b="1" dirty="0"/>
              <a:t>↓</a:t>
            </a:r>
          </a:p>
          <a:p>
            <a:r>
              <a:rPr lang="en-GB" sz="2400" b="1" dirty="0"/>
              <a:t>Core Cleaning Views</a:t>
            </a:r>
          </a:p>
          <a:p>
            <a:r>
              <a:rPr lang="en-GB" sz="2400" b="1" dirty="0"/>
              <a:t>↓</a:t>
            </a:r>
          </a:p>
          <a:p>
            <a:r>
              <a:rPr lang="en-GB" sz="2400" b="1" dirty="0"/>
              <a:t>Dimensions &amp; Facts</a:t>
            </a:r>
          </a:p>
          <a:p>
            <a:r>
              <a:rPr lang="en-GB" sz="2400" b="1" dirty="0"/>
              <a:t>↓</a:t>
            </a:r>
          </a:p>
          <a:p>
            <a:r>
              <a:rPr lang="en-GB" sz="2400" b="1" dirty="0"/>
              <a:t>BI Views</a:t>
            </a:r>
          </a:p>
          <a:p>
            <a:r>
              <a:rPr lang="en-GB" sz="2400" b="1" dirty="0"/>
              <a:t>↓</a:t>
            </a:r>
          </a:p>
          <a:p>
            <a:r>
              <a:rPr lang="en-GB" sz="2400" b="1" dirty="0"/>
              <a:t>Power BI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5490585"/>
            <a:ext cx="111073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These datasets differ in granularity and structure, which makes ETL and correct grain definition critical.</a:t>
            </a:r>
            <a:endParaRPr lang="en-CZ" sz="2800" dirty="0"/>
          </a:p>
        </p:txBody>
      </p:sp>
    </p:spTree>
    <p:extLst>
      <p:ext uri="{BB962C8B-B14F-4D97-AF65-F5344CB8AC3E}">
        <p14:creationId xmlns:p14="http://schemas.microsoft.com/office/powerpoint/2010/main" val="2249126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487788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Enterprise / MS Data Tool–Level Functionality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2229345" y="1499078"/>
            <a:ext cx="77333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Implemented in pure SQL: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ETL orchestration (</a:t>
            </a:r>
            <a:r>
              <a:rPr lang="en-GB" sz="2400" dirty="0" err="1"/>
              <a:t>run_pipeline.sql</a:t>
            </a:r>
            <a:r>
              <a:rPr lang="en-GB" sz="2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Incremental loading (watermark pattern)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Slowly Changing Dimension (Type 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Data quality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Referential integrity enforcement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4404815"/>
            <a:ext cx="111073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Although I used PostgreSQL, all core MS data tool concepts are implemented explicitly in SQL</a:t>
            </a:r>
            <a:endParaRPr lang="en-CZ" sz="2800" dirty="0"/>
          </a:p>
        </p:txBody>
      </p:sp>
    </p:spTree>
    <p:extLst>
      <p:ext uri="{BB962C8B-B14F-4D97-AF65-F5344CB8AC3E}">
        <p14:creationId xmlns:p14="http://schemas.microsoft.com/office/powerpoint/2010/main" val="3316860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755853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Staging Layer (Raw Ingestion)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365663" y="1225945"/>
            <a:ext cx="690995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Purpose: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Raw landing zone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No business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Incremental-safe ingestion</a:t>
            </a:r>
          </a:p>
          <a:p>
            <a:r>
              <a:rPr lang="en-GB" sz="2400" b="1" dirty="0"/>
              <a:t>Key Features: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_</a:t>
            </a:r>
            <a:r>
              <a:rPr lang="en-GB" sz="2400" dirty="0" err="1"/>
              <a:t>loaded_at</a:t>
            </a:r>
            <a:r>
              <a:rPr lang="en-GB" sz="2400" dirty="0"/>
              <a:t> timestamp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Indexes for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Mirrors source CSV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5108835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This is equivalent to the raw landing layer in SSIS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F7E43D-5FF0-25E3-D9C4-A31475B66980}"/>
              </a:ext>
            </a:extLst>
          </p:cNvPr>
          <p:cNvSpPr txBox="1"/>
          <p:nvPr/>
        </p:nvSpPr>
        <p:spPr>
          <a:xfrm>
            <a:off x="542306" y="4429274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_</a:t>
            </a:r>
            <a:r>
              <a:rPr lang="en-GB" sz="2800" dirty="0" err="1"/>
              <a:t>loaded_at</a:t>
            </a:r>
            <a:r>
              <a:rPr lang="en-GB" sz="2800" dirty="0"/>
              <a:t> TIMESTAMP DEFAULT CURRENT_TIMESTAMP</a:t>
            </a:r>
          </a:p>
        </p:txBody>
      </p:sp>
    </p:spTree>
    <p:extLst>
      <p:ext uri="{BB962C8B-B14F-4D97-AF65-F5344CB8AC3E}">
        <p14:creationId xmlns:p14="http://schemas.microsoft.com/office/powerpoint/2010/main" val="65122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87818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Core Cleaning &amp; Data Quality 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748145" y="1225945"/>
            <a:ext cx="75274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Problems Addressed: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Mixed data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Invalid time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Dirty numeric fields</a:t>
            </a:r>
          </a:p>
          <a:p>
            <a:r>
              <a:rPr lang="en-GB" sz="2400" b="1" dirty="0"/>
              <a:t>Solutions: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Regex-based safe casting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Invalid time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Data quality flags (no data loss)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4552434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I never delete bad data. I flag it and handle it safely.</a:t>
            </a:r>
            <a:endParaRPr lang="en-CZ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89269-7A5E-DA84-05FB-6F8B26C8BE95}"/>
              </a:ext>
            </a:extLst>
          </p:cNvPr>
          <p:cNvSpPr txBox="1"/>
          <p:nvPr/>
        </p:nvSpPr>
        <p:spPr>
          <a:xfrm>
            <a:off x="5112327" y="1905529"/>
            <a:ext cx="6115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Z" dirty="0"/>
              <a:t>CASE</a:t>
            </a:r>
          </a:p>
          <a:p>
            <a:r>
              <a:rPr lang="en-CZ" dirty="0"/>
              <a:t>  WHEN time BETWEEN 0 AND 2359 AND (time % 100) &lt; 60</a:t>
            </a:r>
          </a:p>
          <a:p>
            <a:r>
              <a:rPr lang="en-CZ" dirty="0"/>
              <a:t>  THEN time</a:t>
            </a:r>
          </a:p>
          <a:p>
            <a:r>
              <a:rPr lang="en-CZ" dirty="0"/>
              <a:t>END AS time_hhmm</a:t>
            </a:r>
          </a:p>
        </p:txBody>
      </p:sp>
    </p:spTree>
    <p:extLst>
      <p:ext uri="{BB962C8B-B14F-4D97-AF65-F5344CB8AC3E}">
        <p14:creationId xmlns:p14="http://schemas.microsoft.com/office/powerpoint/2010/main" val="4139896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008452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Filtering &amp; Validation Logic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964379" y="1764163"/>
            <a:ext cx="41316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Filtering Techniques Used: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Valid HHMM times only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Numeric-only casting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Business-rule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5217453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This is equivalent to Data Quality transformations in SSIS.</a:t>
            </a:r>
            <a:endParaRPr lang="en-CZ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64CEE-3B50-728A-D27C-F0598C483CE2}"/>
              </a:ext>
            </a:extLst>
          </p:cNvPr>
          <p:cNvSpPr txBox="1"/>
          <p:nvPr/>
        </p:nvSpPr>
        <p:spPr>
          <a:xfrm>
            <a:off x="6323611" y="2179662"/>
            <a:ext cx="611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Z" dirty="0"/>
              <a:t>WHEN age ~ '^[0-9]+(\.0)?$'</a:t>
            </a:r>
          </a:p>
        </p:txBody>
      </p:sp>
    </p:spTree>
    <p:extLst>
      <p:ext uri="{BB962C8B-B14F-4D97-AF65-F5344CB8AC3E}">
        <p14:creationId xmlns:p14="http://schemas.microsoft.com/office/powerpoint/2010/main" val="540772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630663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Dimensional Model (Star Schema)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085605" y="1351508"/>
            <a:ext cx="413162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Dimensions: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Location (SCD Type 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Vehicle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Person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Weather</a:t>
            </a:r>
          </a:p>
          <a:p>
            <a:r>
              <a:rPr lang="en-GB" sz="2400" b="1" dirty="0"/>
              <a:t>Facts: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Traffic Accident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Weather Hourly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Vehicle Traffic Intensity</a:t>
            </a:r>
          </a:p>
        </p:txBody>
      </p:sp>
    </p:spTree>
    <p:extLst>
      <p:ext uri="{BB962C8B-B14F-4D97-AF65-F5344CB8AC3E}">
        <p14:creationId xmlns:p14="http://schemas.microsoft.com/office/powerpoint/2010/main" val="3488632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179636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ER Diagram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4868882" y="5217453"/>
            <a:ext cx="67808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This model is optimized for analytical queries and BI tools.</a:t>
            </a:r>
            <a:endParaRPr lang="en-CZ" sz="2800" dirty="0"/>
          </a:p>
        </p:txBody>
      </p:sp>
      <p:pic>
        <p:nvPicPr>
          <p:cNvPr id="7" name="Picture 6" descr="A diagram of a traffic accident&#10;&#10;Description automatically generated">
            <a:extLst>
              <a:ext uri="{FF2B5EF4-FFF2-40B4-BE49-F238E27FC236}">
                <a16:creationId xmlns:a16="http://schemas.microsoft.com/office/drawing/2014/main" id="{2441EAFE-6CF4-81F4-B593-DA281DE96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94" y="1318160"/>
            <a:ext cx="3420093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571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81687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Slowly Changing Dimension (SCD Type 2)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180608" y="1494334"/>
            <a:ext cx="41316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Why SCD Type 2?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Location attributes change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Historical correctness is required</a:t>
            </a:r>
          </a:p>
          <a:p>
            <a:r>
              <a:rPr lang="en-GB" sz="2400" b="1" dirty="0"/>
              <a:t>How implemented: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Detect change via event 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Close old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Insert new versions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5217453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This ensures historical accuracy</a:t>
            </a:r>
            <a:endParaRPr lang="en-CZ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64CEE-3B50-728A-D27C-F0598C483CE2}"/>
              </a:ext>
            </a:extLst>
          </p:cNvPr>
          <p:cNvSpPr txBox="1"/>
          <p:nvPr/>
        </p:nvSpPr>
        <p:spPr>
          <a:xfrm>
            <a:off x="6323611" y="2179662"/>
            <a:ext cx="611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valid_from</a:t>
            </a:r>
            <a:r>
              <a:rPr lang="en-GB" dirty="0"/>
              <a:t> / </a:t>
            </a:r>
            <a:r>
              <a:rPr lang="en-GB" dirty="0" err="1"/>
              <a:t>valid_to</a:t>
            </a:r>
            <a:r>
              <a:rPr lang="en-GB" dirty="0"/>
              <a:t> / </a:t>
            </a:r>
            <a:r>
              <a:rPr lang="en-GB" dirty="0" err="1"/>
              <a:t>is_current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9893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653177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Lookup Logic (Dimension Mapping)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964379" y="1764163"/>
            <a:ext cx="41316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Lookups implemented via SQL JOINs: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Accident → Date, Time, 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Weather → Date, Time, Weather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Intensity → 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5217453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This replaces SSIS Lookup components using SQL joins.</a:t>
            </a:r>
            <a:endParaRPr lang="en-CZ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64CEE-3B50-728A-D27C-F0598C483CE2}"/>
              </a:ext>
            </a:extLst>
          </p:cNvPr>
          <p:cNvSpPr txBox="1"/>
          <p:nvPr/>
        </p:nvSpPr>
        <p:spPr>
          <a:xfrm>
            <a:off x="6323611" y="2179662"/>
            <a:ext cx="61157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LEFT JOIN </a:t>
            </a:r>
            <a:r>
              <a:rPr lang="en-GB" dirty="0" err="1"/>
              <a:t>dim.dim_location</a:t>
            </a:r>
            <a:r>
              <a:rPr lang="en-GB" dirty="0"/>
              <a:t> l</a:t>
            </a:r>
          </a:p>
          <a:p>
            <a:r>
              <a:rPr lang="en-GB" dirty="0"/>
              <a:t>  ON </a:t>
            </a:r>
            <a:r>
              <a:rPr lang="en-GB" dirty="0" err="1"/>
              <a:t>l.object_id</a:t>
            </a:r>
            <a:r>
              <a:rPr lang="en-GB" dirty="0"/>
              <a:t> = </a:t>
            </a:r>
            <a:r>
              <a:rPr lang="en-GB" dirty="0" err="1"/>
              <a:t>a.object_id</a:t>
            </a:r>
            <a:endParaRPr lang="en-GB" dirty="0"/>
          </a:p>
          <a:p>
            <a:r>
              <a:rPr lang="en-GB" dirty="0"/>
              <a:t> AND </a:t>
            </a:r>
            <a:r>
              <a:rPr lang="en-GB" dirty="0" err="1"/>
              <a:t>l.is_current</a:t>
            </a:r>
            <a:r>
              <a:rPr lang="en-GB" dirty="0"/>
              <a:t> = TRUE</a:t>
            </a:r>
          </a:p>
        </p:txBody>
      </p:sp>
    </p:spTree>
    <p:extLst>
      <p:ext uri="{BB962C8B-B14F-4D97-AF65-F5344CB8AC3E}">
        <p14:creationId xmlns:p14="http://schemas.microsoft.com/office/powerpoint/2010/main" val="1746565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721092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UNKNOWN Handling (Star Schema Guarantee)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275610" y="1692911"/>
            <a:ext cx="41316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Problem: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Missing or invalid dimension references</a:t>
            </a:r>
          </a:p>
          <a:p>
            <a:r>
              <a:rPr lang="en-GB" sz="2400" b="1" dirty="0"/>
              <a:t>Solution: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UNKNOWN (-1) rows in every dimension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COALESCE in fact loading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5217453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This guarantees referential integrity and prevents Power BI errors.</a:t>
            </a:r>
            <a:endParaRPr lang="en-CZ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64CEE-3B50-728A-D27C-F0598C483CE2}"/>
              </a:ext>
            </a:extLst>
          </p:cNvPr>
          <p:cNvSpPr txBox="1"/>
          <p:nvPr/>
        </p:nvSpPr>
        <p:spPr>
          <a:xfrm>
            <a:off x="6323611" y="2179662"/>
            <a:ext cx="4592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COALESCE(</a:t>
            </a:r>
            <a:r>
              <a:rPr lang="en-GB" dirty="0" err="1"/>
              <a:t>t.time_key</a:t>
            </a:r>
            <a:r>
              <a:rPr lang="en-GB" dirty="0"/>
              <a:t>, -1)</a:t>
            </a:r>
          </a:p>
        </p:txBody>
      </p:sp>
    </p:spTree>
    <p:extLst>
      <p:ext uri="{BB962C8B-B14F-4D97-AF65-F5344CB8AC3E}">
        <p14:creationId xmlns:p14="http://schemas.microsoft.com/office/powerpoint/2010/main" val="2832617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524880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Incremental Loading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275610" y="1692911"/>
            <a:ext cx="41316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Technique Used: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Unique constraints on grain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ON CONFLICT DO NOTHING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ETL control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5217453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This ensures re-runs never duplicate data.</a:t>
            </a:r>
            <a:endParaRPr lang="en-CZ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64CEE-3B50-728A-D27C-F0598C483CE2}"/>
              </a:ext>
            </a:extLst>
          </p:cNvPr>
          <p:cNvSpPr txBox="1"/>
          <p:nvPr/>
        </p:nvSpPr>
        <p:spPr>
          <a:xfrm>
            <a:off x="6323611" y="2179662"/>
            <a:ext cx="45927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CONSTRAINT </a:t>
            </a:r>
            <a:r>
              <a:rPr lang="en-GB" dirty="0" err="1"/>
              <a:t>uq_fact_accident</a:t>
            </a:r>
            <a:r>
              <a:rPr lang="en-GB" dirty="0"/>
              <a:t> UNIQUE (</a:t>
            </a:r>
            <a:r>
              <a:rPr lang="en-GB" dirty="0" err="1"/>
              <a:t>accident_id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54210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857871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Fact Table Grain Definition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5217453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Correct grain definition prevents double counting and analytical errors.</a:t>
            </a:r>
            <a:endParaRPr lang="en-CZ" sz="2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3C48A7-624A-06DF-096F-C3D71ADA5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27291"/>
              </p:ext>
            </p:extLst>
          </p:nvPr>
        </p:nvGraphicFramePr>
        <p:xfrm>
          <a:off x="1134094" y="254899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35931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42430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Fact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Grain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166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Traffic Accident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1 row = 1 accident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0383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Weather Hourly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1 row = 1 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92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Traffic Intensity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 row = location ×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093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8665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223735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BI Semantic Layer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275610" y="1692911"/>
            <a:ext cx="413162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BI Views: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 err="1"/>
              <a:t>bi.dim</a:t>
            </a:r>
            <a:r>
              <a:rPr lang="en-GB" sz="2400" dirty="0"/>
              <a:t>_*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 err="1"/>
              <a:t>bi.fact</a:t>
            </a:r>
            <a:r>
              <a:rPr lang="en-GB" sz="2400" dirty="0"/>
              <a:t>_*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 err="1"/>
              <a:t>bi.fact_traffic_accident_wide</a:t>
            </a:r>
            <a:endParaRPr lang="en-GB" sz="2400" dirty="0"/>
          </a:p>
          <a:p>
            <a:r>
              <a:rPr lang="en-GB" sz="2400" b="1" dirty="0"/>
              <a:t>Purpose: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Hide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Simplify Power BI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Improve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5217453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This is equivalent to a semantic layer in enterprise BI.</a:t>
            </a:r>
            <a:endParaRPr lang="en-CZ" sz="2800" dirty="0"/>
          </a:p>
        </p:txBody>
      </p:sp>
    </p:spTree>
    <p:extLst>
      <p:ext uri="{BB962C8B-B14F-4D97-AF65-F5344CB8AC3E}">
        <p14:creationId xmlns:p14="http://schemas.microsoft.com/office/powerpoint/2010/main" val="713347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/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BI Semantic Layer</a:t>
                      </a:r>
                      <a:endParaRPr lang="en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275610" y="1692911"/>
            <a:ext cx="413162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BI Views: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 err="1"/>
              <a:t>bi.dim</a:t>
            </a:r>
            <a:r>
              <a:rPr lang="en-GB" sz="2400" dirty="0"/>
              <a:t>_*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 err="1"/>
              <a:t>bi.fact</a:t>
            </a:r>
            <a:r>
              <a:rPr lang="en-GB" sz="2400" dirty="0"/>
              <a:t>_*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 err="1"/>
              <a:t>bi.fact_traffic_accident_wide</a:t>
            </a:r>
            <a:endParaRPr lang="en-GB" sz="2400" dirty="0"/>
          </a:p>
          <a:p>
            <a:r>
              <a:rPr lang="en-GB" sz="2400" b="1" dirty="0"/>
              <a:t>Purpose: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Hide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Simplify Power BI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Improve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5217453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This is equivalent to a semantic layer in enterprise BI.</a:t>
            </a:r>
            <a:endParaRPr lang="en-CZ" sz="2800" dirty="0"/>
          </a:p>
        </p:txBody>
      </p:sp>
    </p:spTree>
    <p:extLst>
      <p:ext uri="{BB962C8B-B14F-4D97-AF65-F5344CB8AC3E}">
        <p14:creationId xmlns:p14="http://schemas.microsoft.com/office/powerpoint/2010/main" val="490185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978515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Power BI Dashboards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275610" y="1692911"/>
            <a:ext cx="41316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Dashboards Created: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KPI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Trend &amp; Seasonality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Weather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Spatial Hotspots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4006170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All dashboards directly consume BI views, not raw tables.</a:t>
            </a:r>
            <a:endParaRPr lang="en-CZ" sz="2800" dirty="0"/>
          </a:p>
        </p:txBody>
      </p:sp>
    </p:spTree>
    <p:extLst>
      <p:ext uri="{BB962C8B-B14F-4D97-AF65-F5344CB8AC3E}">
        <p14:creationId xmlns:p14="http://schemas.microsoft.com/office/powerpoint/2010/main" val="483314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595918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Sanity Checks &amp; Validation</a:t>
                      </a:r>
                      <a:endParaRPr lang="en-GB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275610" y="1692911"/>
            <a:ext cx="41316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Checks Implemented: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Referential integrity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Grain violations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Negative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Temperature plausibility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4006170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This ensures analytical trustworthiness.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06EEFB-2E7C-A421-3AC0-AF1ADB775B73}"/>
              </a:ext>
            </a:extLst>
          </p:cNvPr>
          <p:cNvSpPr txBox="1"/>
          <p:nvPr/>
        </p:nvSpPr>
        <p:spPr>
          <a:xfrm>
            <a:off x="4804558" y="2412186"/>
            <a:ext cx="611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Z" dirty="0"/>
              <a:t>WHERE temperature_2m &lt; -50 OR temperature_2m &gt; 60</a:t>
            </a:r>
          </a:p>
        </p:txBody>
      </p:sp>
    </p:spTree>
    <p:extLst>
      <p:ext uri="{BB962C8B-B14F-4D97-AF65-F5344CB8AC3E}">
        <p14:creationId xmlns:p14="http://schemas.microsoft.com/office/powerpoint/2010/main" val="3641760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240470"/>
              </p:ext>
            </p:extLst>
          </p:nvPr>
        </p:nvGraphicFramePr>
        <p:xfrm>
          <a:off x="0" y="118756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Power BI Data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AC124F-A44F-EFD3-B230-3BD7C932C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0025"/>
            <a:ext cx="12192000" cy="609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925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/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Power BI Dashboards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275610" y="1692911"/>
            <a:ext cx="41316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Dashboards Created: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KPI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Trend &amp; Seasonality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Weather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Spatial Hotspots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4006170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All dashboards directly consume BI views, not raw tables.</a:t>
            </a:r>
            <a:endParaRPr lang="en-CZ" sz="2800" dirty="0"/>
          </a:p>
        </p:txBody>
      </p:sp>
    </p:spTree>
    <p:extLst>
      <p:ext uri="{BB962C8B-B14F-4D97-AF65-F5344CB8AC3E}">
        <p14:creationId xmlns:p14="http://schemas.microsoft.com/office/powerpoint/2010/main" val="1615994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/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Power BI Dashboards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77B7B60-54F6-BFDA-A977-7B7FD937F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9757"/>
            <a:ext cx="12192000" cy="695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14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C8B9AE-8518-1ABE-CD39-9F206F7C1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42"/>
            <a:ext cx="12192000" cy="674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81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84CC6FBE-66CB-3169-DDDC-6191EBAE4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5711"/>
            <a:ext cx="12192000" cy="692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87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339911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Reproducibility &amp; Automation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275610" y="1692911"/>
            <a:ext cx="41316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Features: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One-command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Idempotent execution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Incremental-safe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 err="1"/>
              <a:t>Defense</a:t>
            </a:r>
            <a:r>
              <a:rPr lang="en-GB" sz="2400" dirty="0"/>
              <a:t>-ready demos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4006170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The entire warehouse can be rebuilt from scratch reliably.</a:t>
            </a:r>
            <a:endParaRPr lang="en-CZ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0F25C4-BDCE-D1B3-D9B3-A2006F054815}"/>
              </a:ext>
            </a:extLst>
          </p:cNvPr>
          <p:cNvSpPr txBox="1"/>
          <p:nvPr/>
        </p:nvSpPr>
        <p:spPr>
          <a:xfrm>
            <a:off x="5407232" y="2412186"/>
            <a:ext cx="611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Z" dirty="0"/>
              <a:t>\i sql/run_pipeline.sql</a:t>
            </a:r>
          </a:p>
        </p:txBody>
      </p:sp>
    </p:spTree>
    <p:extLst>
      <p:ext uri="{BB962C8B-B14F-4D97-AF65-F5344CB8AC3E}">
        <p14:creationId xmlns:p14="http://schemas.microsoft.com/office/powerpoint/2010/main" val="3313488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319135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Key Learnings</a:t>
                      </a:r>
                      <a:endParaRPr lang="en-GB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275610" y="1692911"/>
            <a:ext cx="41316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Enterprise DW design</a:t>
            </a:r>
          </a:p>
          <a:p>
            <a:r>
              <a:rPr lang="en-GB" sz="2400" dirty="0"/>
              <a:t>Advanced SQL ETL</a:t>
            </a:r>
          </a:p>
          <a:p>
            <a:r>
              <a:rPr lang="en-GB" sz="2400" dirty="0"/>
              <a:t>Data quality engineering</a:t>
            </a:r>
          </a:p>
          <a:p>
            <a:r>
              <a:rPr lang="en-GB" sz="2400" dirty="0"/>
              <a:t>Historical data handling</a:t>
            </a:r>
          </a:p>
          <a:p>
            <a:r>
              <a:rPr lang="en-GB" sz="2400" dirty="0"/>
              <a:t>BI semantic </a:t>
            </a:r>
            <a:r>
              <a:rPr lang="en-GB" sz="2400" dirty="0" err="1"/>
              <a:t>modeling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4006170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All dashboards directly consume BI views, not raw tables.</a:t>
            </a:r>
            <a:endParaRPr lang="en-CZ" sz="2800" dirty="0"/>
          </a:p>
        </p:txBody>
      </p:sp>
    </p:spTree>
    <p:extLst>
      <p:ext uri="{BB962C8B-B14F-4D97-AF65-F5344CB8AC3E}">
        <p14:creationId xmlns:p14="http://schemas.microsoft.com/office/powerpoint/2010/main" val="2072386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312967"/>
              </p:ext>
            </p:extLst>
          </p:nvPr>
        </p:nvGraphicFramePr>
        <p:xfrm>
          <a:off x="0" y="546267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Conclusion</a:t>
                      </a:r>
                      <a:endParaRPr lang="en-GB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971EA0-BB19-0F6F-FFDC-8F36D39FC22E}"/>
              </a:ext>
            </a:extLst>
          </p:cNvPr>
          <p:cNvSpPr txBox="1"/>
          <p:nvPr/>
        </p:nvSpPr>
        <p:spPr>
          <a:xfrm>
            <a:off x="1275610" y="1692911"/>
            <a:ext cx="41316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Summary: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Full DW lifecycle implemented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Enterprise-grade ETL in 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Robust BI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Scalable and reproducible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DE9F-7E6B-FAF5-00F0-24FABA20C629}"/>
              </a:ext>
            </a:extLst>
          </p:cNvPr>
          <p:cNvSpPr txBox="1"/>
          <p:nvPr/>
        </p:nvSpPr>
        <p:spPr>
          <a:xfrm>
            <a:off x="542306" y="4006170"/>
            <a:ext cx="1110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All dashboards directly consume BI views, not raw tables.</a:t>
            </a:r>
            <a:endParaRPr lang="en-CZ" sz="2800" dirty="0"/>
          </a:p>
        </p:txBody>
      </p:sp>
    </p:spTree>
    <p:extLst>
      <p:ext uri="{BB962C8B-B14F-4D97-AF65-F5344CB8AC3E}">
        <p14:creationId xmlns:p14="http://schemas.microsoft.com/office/powerpoint/2010/main" val="1456694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493E2-87FE-3B33-61B4-10B6C2268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893420"/>
              </p:ext>
            </p:extLst>
          </p:nvPr>
        </p:nvGraphicFramePr>
        <p:xfrm>
          <a:off x="0" y="2933208"/>
          <a:ext cx="12192000" cy="64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689616586"/>
                    </a:ext>
                  </a:extLst>
                </a:gridCol>
              </a:tblGrid>
              <a:tr h="641268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Thank you </a:t>
                      </a:r>
                      <a:endParaRPr lang="en-GB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34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415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955</Words>
  <Application>Microsoft Macintosh PowerPoint</Application>
  <PresentationFormat>Widescreen</PresentationFormat>
  <Paragraphs>198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Hero Bala</dc:creator>
  <cp:lastModifiedBy>Hero Bala</cp:lastModifiedBy>
  <cp:revision>1</cp:revision>
  <dcterms:created xsi:type="dcterms:W3CDTF">2026-01-13T00:58:14Z</dcterms:created>
  <dcterms:modified xsi:type="dcterms:W3CDTF">2026-01-13T01:32:48Z</dcterms:modified>
</cp:coreProperties>
</file>